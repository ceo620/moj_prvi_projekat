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TITAN GRID – IC v4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Lender / Credit Committee Version</a:t>
            </a:r>
          </a:p>
          <a:p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EU transformer shortage</a:t>
            </a:r>
          </a:p>
          <a:p>
            <a:pPr/>
            <a:r>
              <a:t>Nearshoring advantage</a:t>
            </a:r>
          </a:p>
          <a:p>
            <a:pPr/>
            <a:r>
              <a:t>Fast delivery (3–5 days)</a:t>
            </a:r>
          </a:p>
          <a:p>
            <a:pPr/>
            <a:r>
              <a:t>Strong IRR and DSCR 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Structure (€43.56m)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CAPEX Donut Chart: Civil / Equipment / Contingency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EBITDA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line chart: Revenue vs EBITDA (2027–2035)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DSCR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DSCR curve (min 1.35x floor)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 Waterfall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waterfall: Revenue → CFADS → Debt Service → Equity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Debt: 62%</a:t>
            </a:r>
          </a:p>
          <a:p>
            <a:pPr/>
            <a:r>
              <a:t>Equity: 13%</a:t>
            </a:r>
          </a:p>
          <a:p>
            <a:pPr/>
            <a:r>
              <a:t>Grant: 25%</a:t>
            </a:r>
          </a:p>
          <a:p>
            <a:pPr/>
            <a:r>
              <a:t>Blended low-risk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Debt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Interest: 4.5%</a:t>
            </a:r>
          </a:p>
          <a:p>
            <a:pPr/>
            <a:r>
              <a:t>Tenor: 10 years</a:t>
            </a:r>
          </a:p>
          <a:p>
            <a:pPr/>
            <a:r>
              <a:t>Grace: 2 years</a:t>
            </a:r>
          </a:p>
          <a:p>
            <a:pPr/>
            <a:r>
              <a:t>Sculpted amortization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Min DSCR: 1.35x</a:t>
            </a:r>
          </a:p>
          <a:p>
            <a:pPr/>
            <a:r>
              <a:t>Lock-up: 1.50x</a:t>
            </a:r>
          </a:p>
          <a:p>
            <a:pPr/>
            <a:r>
              <a:t>DSRA: 6 months</a:t>
            </a:r>
          </a:p>
          <a:p>
            <a:pPr/>
            <a:r>
              <a:t>Cash sweep mechanism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CAPEX: P90 validated</a:t>
            </a:r>
          </a:p>
          <a:p>
            <a:pPr/>
            <a:r>
              <a:t>Market: structural demand</a:t>
            </a:r>
          </a:p>
          <a:p>
            <a:pPr/>
            <a:r>
              <a:t>Operations: ADS Turkey base</a:t>
            </a:r>
          </a:p>
          <a:p>
            <a:pPr/>
            <a:r>
              <a:t>FX: EUR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ESG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EU Taxonomy aligned</a:t>
            </a:r>
          </a:p>
          <a:p>
            <a:pPr/>
            <a:r>
              <a:t>CBAM compliant</a:t>
            </a:r>
          </a:p>
          <a:p>
            <a:pPr/>
            <a:r>
              <a:t>Reduced logistics emissions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Bankable structure</a:t>
            </a:r>
          </a:p>
          <a:p>
            <a:pPr/>
            <a:r>
              <a:t>Controlled downside risk</a:t>
            </a:r>
          </a:p>
          <a:p>
            <a:pPr/>
            <a:r>
              <a:t>Strong cash flow coverage</a:t>
            </a:r>
          </a:p>
          <a:p>
            <a:pPr/>
            <a:r>
              <a:t>Recommendation: APPROVE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